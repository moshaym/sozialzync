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Sozialzync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C7D2FE"/>
                </a:solidFill>
              </a:rPr>
              <a:t>Super Admin &amp; Platform Owner Reference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59E0B"/>
                </a:solidFill>
              </a:rPr>
              <a:t>★  FULL PLATFORM ACCESS  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</a:rPr>
              <a:t>sozialzync.vercel.app/admin  |  github.com/MoshayM/AI-Sozialzync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59E0B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19456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YOUR ROLE AS SUPER 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59E0B"/>
                </a:solidFill>
              </a:rPr>
              <a:t>Owner · Developer · Platform Operator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59E0B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612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Super Admin Access Means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2588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</a:pPr>
            <a:r>
              <a:rPr sz="1500" b="0">
                <a:solidFill>
                  <a:srgbClr val="FFFFFF"/>
                </a:solidFill>
              </a:rPr>
              <a:t>● You are the platform owner — you built and deployed this system</a:t>
            </a:r>
          </a:p>
          <a:p>
            <a:pPr algn="l">
              <a:lnSpc>
                <a:spcPts val="2800"/>
              </a:lnSpc>
            </a:pPr>
            <a:r>
              <a:rPr sz="1500" b="0">
                <a:solidFill>
                  <a:srgbClr val="FFFFFF"/>
                </a:solidFill>
              </a:rPr>
              <a:t>● JWT role = SUPER_ADMIN or OWNER → bypasses ALL plan gates</a:t>
            </a:r>
          </a:p>
          <a:p>
            <a:pPr algn="l">
              <a:lnSpc>
                <a:spcPts val="2800"/>
              </a:lnSpc>
            </a:pPr>
            <a:r>
              <a:rPr sz="1500" b="0">
                <a:solidFill>
                  <a:srgbClr val="FFFFFF"/>
                </a:solidFill>
              </a:rPr>
              <a:t>● Full access to every feature regardless of plan tier</a:t>
            </a:r>
          </a:p>
          <a:p>
            <a:pPr algn="l">
              <a:lnSpc>
                <a:spcPts val="2800"/>
              </a:lnSpc>
            </a:pPr>
            <a:r>
              <a:rPr sz="1500" b="0">
                <a:solidFill>
                  <a:srgbClr val="FFFFFF"/>
                </a:solidFill>
              </a:rPr>
              <a:t>● Access to /admin panel — only visible to SUPER_ADMIN/OWNER</a:t>
            </a:r>
          </a:p>
          <a:p>
            <a:pPr algn="l">
              <a:lnSpc>
                <a:spcPts val="2800"/>
              </a:lnSpc>
            </a:pPr>
            <a:r>
              <a:rPr sz="1500" b="0">
                <a:solidFill>
                  <a:srgbClr val="FFFFFF"/>
                </a:solidFill>
              </a:rPr>
              <a:t>● Can view, manage, and impersonate any user account</a:t>
            </a:r>
          </a:p>
          <a:p>
            <a:pPr algn="l">
              <a:lnSpc>
                <a:spcPts val="2800"/>
              </a:lnSpc>
            </a:pPr>
            <a:r>
              <a:rPr sz="1500" b="0">
                <a:solidFill>
                  <a:srgbClr val="FFFFFF"/>
                </a:solidFill>
              </a:rPr>
              <a:t>● Can override billing, credit balances, and plan assignments</a:t>
            </a:r>
          </a:p>
          <a:p>
            <a:pPr algn="l">
              <a:lnSpc>
                <a:spcPts val="2800"/>
              </a:lnSpc>
            </a:pPr>
            <a:r>
              <a:rPr sz="1500" b="0">
                <a:solidFill>
                  <a:srgbClr val="FFFFFF"/>
                </a:solidFill>
              </a:rPr>
              <a:t>● Responsible for uptime, security, and compliance of the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59E0B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612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Super Admin vs Other Roles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71600"/>
          <a:ext cx="114300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926080"/>
                <a:gridCol w="2926080"/>
                <a:gridCol w="3017520"/>
              </a:tblGrid>
              <a:tr h="82296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Plan Gate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Admin Panel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Billing Override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MEMBER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Full gates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ORG_ADMIN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Org features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Org wallet only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Bypass all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Yes (org)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Yes (org)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59E0B"/>
                          </a:solidFill>
                        </a:rPr>
                        <a:t>SUPER_ADMIN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59E0B"/>
                          </a:solidFill>
                        </a:rPr>
                        <a:t>Bypass ALL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59E0B"/>
                          </a:solidFill>
                        </a:rPr>
                        <a:t>Yes (global)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59E0B"/>
                          </a:solidFill>
                        </a:rPr>
                        <a:t>Yes (global)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59E0B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612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/admin Panel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2588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</a:pPr>
            <a:r>
              <a:rPr sz="1500" b="0">
                <a:solidFill>
                  <a:srgbClr val="FFFFFF"/>
                </a:solidFill>
              </a:rPr>
              <a:t>● Access: sozialzync.vercel.app/admin  (role-gated — SUPER_ADMIN/OWNER only)</a:t>
            </a:r>
          </a:p>
          <a:p>
            <a:pPr algn="l">
              <a:lnSpc>
                <a:spcPts val="2800"/>
              </a:lnSpc>
            </a:pPr>
            <a:r>
              <a:rPr sz="1500" b="0">
                <a:solidFill>
                  <a:srgbClr val="FFFFFF"/>
                </a:solidFill>
              </a:rPr>
              <a:t>● User Management: list all users, search, view profiles, assign roles</a:t>
            </a:r>
          </a:p>
          <a:p>
            <a:pPr algn="l">
              <a:lnSpc>
                <a:spcPts val="2800"/>
              </a:lnSpc>
            </a:pPr>
            <a:r>
              <a:rPr sz="1500" b="0">
                <a:solidFill>
                  <a:srgbClr val="FFFFFF"/>
                </a:solidFill>
              </a:rPr>
              <a:t>● Billing Control: view wallet balances, grant/revoke credits, adjust plans</a:t>
            </a:r>
          </a:p>
          <a:p>
            <a:pPr algn="l">
              <a:lnSpc>
                <a:spcPts val="2800"/>
              </a:lnSpc>
            </a:pPr>
            <a:r>
              <a:rPr sz="1500" b="0">
                <a:solidFill>
                  <a:srgbClr val="FFFFFF"/>
                </a:solidFill>
              </a:rPr>
              <a:t>● Organization Overview: all orgs, member counts, billing status</a:t>
            </a:r>
          </a:p>
          <a:p>
            <a:pPr algn="l">
              <a:lnSpc>
                <a:spcPts val="2800"/>
              </a:lnSpc>
            </a:pPr>
            <a:r>
              <a:rPr sz="1500" b="0">
                <a:solidFill>
                  <a:srgbClr val="FFFFFF"/>
                </a:solidFill>
              </a:rPr>
              <a:t>● Job Queue Monitor: BullMQ job states, failed jobs, retry controls</a:t>
            </a:r>
          </a:p>
          <a:p>
            <a:pPr algn="l">
              <a:lnSpc>
                <a:spcPts val="2800"/>
              </a:lnSpc>
            </a:pPr>
            <a:r>
              <a:rPr sz="1500" b="0">
                <a:solidFill>
                  <a:srgbClr val="FFFFFF"/>
                </a:solidFill>
              </a:rPr>
              <a:t>● Analytics: platform-wide usage, top users, revenue metrics</a:t>
            </a:r>
          </a:p>
          <a:p>
            <a:pPr algn="l">
              <a:lnSpc>
                <a:spcPts val="2800"/>
              </a:lnSpc>
            </a:pPr>
            <a:r>
              <a:rPr sz="1500" b="0">
                <a:solidFill>
                  <a:srgbClr val="FFFFFF"/>
                </a:solidFill>
              </a:rPr>
              <a:t>● Audit Log: every significant action logged with user + timestamp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59E0B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19456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PLATFORM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59E0B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612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Infrastructure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258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</a:rPr>
              <a:t>FRONTEND (Vercel)</a:t>
            </a:r>
          </a:p>
          <a:p>
            <a:pPr algn="l"/>
            <a:r>
              <a:rPr sz="14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400" b="0">
                <a:solidFill>
                  <a:srgbClr val="FFFFFF"/>
                </a:solidFill>
              </a:rPr>
              <a:t>● URL: sozialzync.vercel.app</a:t>
            </a:r>
          </a:p>
          <a:p>
            <a:pPr algn="l"/>
            <a:r>
              <a:rPr sz="1400" b="0">
                <a:solidFill>
                  <a:srgbClr val="FFFFFF"/>
                </a:solidFill>
              </a:rPr>
              <a:t>● Auto-deploys on git push to master</a:t>
            </a:r>
          </a:p>
          <a:p>
            <a:pPr algn="l"/>
            <a:r>
              <a:rPr sz="1400" b="0">
                <a:solidFill>
                  <a:srgbClr val="FFFFFF"/>
                </a:solidFill>
              </a:rPr>
              <a:t>● Preview URLs for every PR branch</a:t>
            </a:r>
          </a:p>
          <a:p>
            <a:pPr algn="l"/>
            <a:r>
              <a:rPr sz="1400" b="0">
                <a:solidFill>
                  <a:srgbClr val="FFFFFF"/>
                </a:solidFill>
              </a:rPr>
              <a:t>● Only one env var needed: NEXT_PUBLIC_API_URL</a:t>
            </a:r>
          </a:p>
          <a:p>
            <a:pPr algn="l"/>
            <a:r>
              <a:rPr sz="1400" b="0">
                <a:solidFill>
                  <a:srgbClr val="FFFFFF"/>
                </a:solidFill>
              </a:rPr>
              <a:t>● Free Vercel plan sufficient for most usage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325880"/>
            <a:ext cx="5577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</a:rPr>
              <a:t>BACKEND (Railway)</a:t>
            </a:r>
          </a:p>
          <a:p>
            <a:pPr algn="l"/>
            <a:r>
              <a:rPr sz="14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400" b="0">
                <a:solidFill>
                  <a:srgbClr val="FFFFFF"/>
                </a:solidFill>
              </a:rPr>
              <a:t>● NestJS API server (persistent)</a:t>
            </a:r>
          </a:p>
          <a:p>
            <a:pPr algn="l"/>
            <a:r>
              <a:rPr sz="1400" b="0">
                <a:solidFill>
                  <a:srgbClr val="FFFFFF"/>
                </a:solidFill>
              </a:rPr>
              <a:t>● BullMQ worker process (persistent)</a:t>
            </a:r>
          </a:p>
          <a:p>
            <a:pPr algn="l"/>
            <a:r>
              <a:rPr sz="1400" b="0">
                <a:solidFill>
                  <a:srgbClr val="FFFFFF"/>
                </a:solidFill>
              </a:rPr>
              <a:t>● PostgreSQL database (Railway plugin)</a:t>
            </a:r>
          </a:p>
          <a:p>
            <a:pPr algn="l"/>
            <a:r>
              <a:rPr sz="1400" b="0">
                <a:solidFill>
                  <a:srgbClr val="FFFFFF"/>
                </a:solidFill>
              </a:rPr>
              <a:t>● Redis for queues/cache (Railway plugin)</a:t>
            </a:r>
          </a:p>
          <a:p>
            <a:pPr algn="l"/>
            <a:r>
              <a:rPr sz="1400" b="0">
                <a:solidFill>
                  <a:srgbClr val="FFFFFF"/>
                </a:solidFill>
              </a:rPr>
              <a:t>● All env vars configured in Railway Variables tab</a:t>
            </a:r>
          </a:p>
        </p:txBody>
      </p:sp>
      <p:sp>
        <p:nvSpPr>
          <p:cNvPr id="8" name="Rectangle 7"/>
          <p:cNvSpPr/>
          <p:nvPr/>
        </p:nvSpPr>
        <p:spPr>
          <a:xfrm>
            <a:off x="5989320" y="1371600"/>
            <a:ext cx="27432" cy="50292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59E0B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612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Required Environment Variables — Railway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2588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</a:pPr>
            <a:r>
              <a:rPr sz="1400" b="0">
                <a:solidFill>
                  <a:srgbClr val="FFFFFF"/>
                </a:solidFill>
              </a:rPr>
              <a:t>Core variables (MUST SET — backend will not start without these):</a:t>
            </a:r>
          </a:p>
          <a:p>
            <a:pPr algn="l">
              <a:lnSpc>
                <a:spcPts val="2600"/>
              </a:lnSpc>
            </a:pPr>
            <a:r>
              <a:rPr sz="1400" b="0">
                <a:solidFill>
                  <a:srgbClr val="FFFFFF"/>
                </a:solidFill>
              </a:rPr>
              <a:t/>
            </a:r>
          </a:p>
          <a:p>
            <a:pPr algn="l">
              <a:lnSpc>
                <a:spcPts val="2600"/>
              </a:lnSpc>
            </a:pPr>
            <a:r>
              <a:rPr sz="1400" b="0">
                <a:solidFill>
                  <a:srgbClr val="FFFFFF"/>
                </a:solidFill>
              </a:rPr>
              <a:t>● DATABASE_URL — Railway auto-sets when PostgreSQL plugin is added</a:t>
            </a:r>
          </a:p>
          <a:p>
            <a:pPr algn="l">
              <a:lnSpc>
                <a:spcPts val="2600"/>
              </a:lnSpc>
            </a:pPr>
            <a:r>
              <a:rPr sz="1400" b="0">
                <a:solidFill>
                  <a:srgbClr val="FFFFFF"/>
                </a:solidFill>
              </a:rPr>
              <a:t>● REDIS_URL — Railway auto-sets when Redis plugin is added</a:t>
            </a:r>
          </a:p>
          <a:p>
            <a:pPr algn="l">
              <a:lnSpc>
                <a:spcPts val="2600"/>
              </a:lnSpc>
            </a:pPr>
            <a:r>
              <a:rPr sz="1400" b="0">
                <a:solidFill>
                  <a:srgbClr val="FFFFFF"/>
                </a:solidFill>
              </a:rPr>
              <a:t>● JWT_SECRET — random 64-char string  (generate: openssl rand -hex 32)</a:t>
            </a:r>
          </a:p>
          <a:p>
            <a:pPr algn="l">
              <a:lnSpc>
                <a:spcPts val="2600"/>
              </a:lnSpc>
            </a:pPr>
            <a:r>
              <a:rPr sz="1400" b="0">
                <a:solidFill>
                  <a:srgbClr val="FFFFFF"/>
                </a:solidFill>
              </a:rPr>
              <a:t>● JWT_REFRESH_SECRET — separate random 64-char string</a:t>
            </a:r>
          </a:p>
          <a:p>
            <a:pPr algn="l">
              <a:lnSpc>
                <a:spcPts val="2600"/>
              </a:lnSpc>
            </a:pPr>
            <a:r>
              <a:rPr sz="1400" b="0">
                <a:solidFill>
                  <a:srgbClr val="FFFFFF"/>
                </a:solidFill>
              </a:rPr>
              <a:t>● TOKEN_ENCRYPTION_KEY — min 32 chars (JWE key for OAuth token encryption)</a:t>
            </a:r>
          </a:p>
          <a:p>
            <a:pPr algn="l">
              <a:lnSpc>
                <a:spcPts val="2600"/>
              </a:lnSpc>
            </a:pPr>
            <a:r>
              <a:rPr sz="1400" b="0">
                <a:solidFill>
                  <a:srgbClr val="FFFFFF"/>
                </a:solidFill>
              </a:rPr>
              <a:t>● SUPER_ADMIN_EMAILS — comma-separated list of super-admin email addresses</a:t>
            </a:r>
          </a:p>
          <a:p>
            <a:pPr algn="l">
              <a:lnSpc>
                <a:spcPts val="2600"/>
              </a:lnSpc>
            </a:pPr>
            <a:r>
              <a:rPr sz="1400" b="0">
                <a:solidFill>
                  <a:srgbClr val="FFFFFF"/>
                </a:solidFill>
              </a:rPr>
              <a:t>● OWNER_EMAILS — comma-separated list of owner email addresses</a:t>
            </a:r>
          </a:p>
          <a:p>
            <a:pPr algn="l">
              <a:lnSpc>
                <a:spcPts val="2600"/>
              </a:lnSpc>
            </a:pPr>
            <a:r>
              <a:rPr sz="1400" b="0">
                <a:solidFill>
                  <a:srgbClr val="FFFFFF"/>
                </a:solidFill>
              </a:rPr>
              <a:t>● NODE_ENV=production</a:t>
            </a:r>
          </a:p>
          <a:p>
            <a:pPr algn="l">
              <a:lnSpc>
                <a:spcPts val="2600"/>
              </a:lnSpc>
            </a:pPr>
            <a:r>
              <a:rPr sz="1400" b="0">
                <a:solidFill>
                  <a:srgbClr val="FFFFFF"/>
                </a:solidFill>
              </a:rPr>
              <a:t>● CORS_ORIGIN=https://sozialzync.vercel.app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59E0B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612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Required Environment Variables — AI Providers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2588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00"/>
              </a:lnSpc>
            </a:pPr>
            <a:r>
              <a:rPr sz="1350" b="0">
                <a:solidFill>
                  <a:srgbClr val="FFFFFF"/>
                </a:solidFill>
              </a:rPr>
              <a:t>AI API Keys (configure at least one — Claude is primary):</a:t>
            </a:r>
          </a:p>
          <a:p>
            <a:pPr algn="l">
              <a:lnSpc>
                <a:spcPts val="2500"/>
              </a:lnSpc>
            </a:pPr>
            <a:r>
              <a:rPr sz="1350" b="0">
                <a:solidFill>
                  <a:srgbClr val="FFFFFF"/>
                </a:solidFill>
              </a:rPr>
              <a:t>  ● ANTHROPIC_API_KEY — Claude (primary AI provider)</a:t>
            </a:r>
          </a:p>
          <a:p>
            <a:pPr algn="l">
              <a:lnSpc>
                <a:spcPts val="2500"/>
              </a:lnSpc>
            </a:pPr>
            <a:r>
              <a:rPr sz="1350" b="0">
                <a:solidFill>
                  <a:srgbClr val="FFFFFF"/>
                </a:solidFill>
              </a:rPr>
              <a:t>  ● OPENAI_API_KEY — GPT-4 (fallback provider)</a:t>
            </a:r>
          </a:p>
          <a:p>
            <a:pPr algn="l">
              <a:lnSpc>
                <a:spcPts val="2500"/>
              </a:lnSpc>
            </a:pPr>
            <a:r>
              <a:rPr sz="1350" b="0">
                <a:solidFill>
                  <a:srgbClr val="FFFFFF"/>
                </a:solidFill>
              </a:rPr>
              <a:t>  ● GEMINI_API_KEY — Gemini (second fallback)</a:t>
            </a:r>
          </a:p>
          <a:p>
            <a:pPr algn="l">
              <a:lnSpc>
                <a:spcPts val="2500"/>
              </a:lnSpc>
            </a:pPr>
            <a:r>
              <a:rPr sz="1350" b="0">
                <a:solidFill>
                  <a:srgbClr val="FFFFFF"/>
                </a:solidFill>
              </a:rPr>
              <a:t/>
            </a:r>
          </a:p>
          <a:p>
            <a:pPr algn="l">
              <a:lnSpc>
                <a:spcPts val="2500"/>
              </a:lnSpc>
            </a:pPr>
            <a:r>
              <a:rPr sz="1350" b="0">
                <a:solidFill>
                  <a:srgbClr val="FFFFFF"/>
                </a:solidFill>
              </a:rPr>
              <a:t>OTP Delivery (configure at least one — Resend recommended):</a:t>
            </a:r>
          </a:p>
          <a:p>
            <a:pPr algn="l">
              <a:lnSpc>
                <a:spcPts val="2500"/>
              </a:lnSpc>
            </a:pPr>
            <a:r>
              <a:rPr sz="1350" b="0">
                <a:solidFill>
                  <a:srgbClr val="FFFFFF"/>
                </a:solidFill>
              </a:rPr>
              <a:t>  ● RESEND_API_KEY + RESEND_FROM — email OTP (free, 3,000 emails/month)</a:t>
            </a:r>
          </a:p>
          <a:p>
            <a:pPr algn="l">
              <a:lnSpc>
                <a:spcPts val="2500"/>
              </a:lnSpc>
            </a:pPr>
            <a:r>
              <a:rPr sz="1350" b="0">
                <a:solidFill>
                  <a:srgbClr val="FFFFFF"/>
                </a:solidFill>
              </a:rPr>
              <a:t>  ● SMTP_HOST + SMTP_PORT + SMTP_USER + SMTP_PASS + SMTP_FROM — SMTP fallback</a:t>
            </a:r>
          </a:p>
          <a:p>
            <a:pPr algn="l">
              <a:lnSpc>
                <a:spcPts val="2500"/>
              </a:lnSpc>
            </a:pPr>
            <a:r>
              <a:rPr sz="1350" b="0">
                <a:solidFill>
                  <a:srgbClr val="FFFFFF"/>
                </a:solidFill>
              </a:rPr>
              <a:t>  ● TWILIO_ACCOUNT_SID + TWILIO_AUTH_TOKEN + TWILIO_FROM — SMS OTP</a:t>
            </a:r>
          </a:p>
          <a:p>
            <a:pPr algn="l">
              <a:lnSpc>
                <a:spcPts val="2500"/>
              </a:lnSpc>
            </a:pPr>
            <a:r>
              <a:rPr sz="1350" b="0">
                <a:solidFill>
                  <a:srgbClr val="FFFFFF"/>
                </a:solidFill>
              </a:rPr>
              <a:t/>
            </a:r>
          </a:p>
          <a:p>
            <a:pPr algn="l">
              <a:lnSpc>
                <a:spcPts val="2500"/>
              </a:lnSpc>
            </a:pPr>
            <a:r>
              <a:rPr sz="1350" b="0">
                <a:solidFill>
                  <a:srgbClr val="FFFFFF"/>
                </a:solidFill>
              </a:rPr>
              <a:t>Payments:</a:t>
            </a:r>
          </a:p>
          <a:p>
            <a:pPr algn="l">
              <a:lnSpc>
                <a:spcPts val="2500"/>
              </a:lnSpc>
            </a:pPr>
            <a:r>
              <a:rPr sz="1350" b="0">
                <a:solidFill>
                  <a:srgbClr val="FFFFFF"/>
                </a:solidFill>
              </a:rPr>
              <a:t>  ● STRIPE_SECRET_KEY + STRIPE_WEBHOOK_SECRET</a:t>
            </a:r>
          </a:p>
          <a:p>
            <a:pPr algn="l">
              <a:lnSpc>
                <a:spcPts val="2500"/>
              </a:lnSpc>
            </a:pPr>
            <a:r>
              <a:rPr sz="1350" b="0">
                <a:solidFill>
                  <a:srgbClr val="FFFFFF"/>
                </a:solidFill>
              </a:rPr>
              <a:t/>
            </a:r>
          </a:p>
          <a:p>
            <a:pPr algn="l">
              <a:lnSpc>
                <a:spcPts val="2500"/>
              </a:lnSpc>
            </a:pPr>
            <a:r>
              <a:rPr sz="1350" b="0">
                <a:solidFill>
                  <a:srgbClr val="FFFFFF"/>
                </a:solidFill>
              </a:rPr>
              <a:t>Observability (optional but recommended):</a:t>
            </a:r>
          </a:p>
          <a:p>
            <a:pPr algn="l">
              <a:lnSpc>
                <a:spcPts val="2500"/>
              </a:lnSpc>
            </a:pPr>
            <a:r>
              <a:rPr sz="1350" b="0">
                <a:solidFill>
                  <a:srgbClr val="FFFFFF"/>
                </a:solidFill>
              </a:rPr>
              <a:t>  ● SENTRY_DSN — error tracking for both API and 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59E0B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612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Deployment Procedure — Step by Step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2588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700"/>
              </a:lnSpc>
            </a:pPr>
            <a:r>
              <a:rPr sz="1450" b="0">
                <a:solidFill>
                  <a:srgbClr val="FFFFFF"/>
                </a:solidFill>
              </a:rPr>
              <a:t>● 1. Push code to master branch → GitHub Actions CI runs automatically</a:t>
            </a:r>
          </a:p>
          <a:p>
            <a:pPr algn="l">
              <a:lnSpc>
                <a:spcPts val="2700"/>
              </a:lnSpc>
            </a:pPr>
            <a:r>
              <a:rPr sz="1450" b="0">
                <a:solidFill>
                  <a:srgbClr val="FFFFFF"/>
                </a:solidFill>
              </a:rPr>
              <a:t>● 2. CI pipeline: typecheck → lint → unit tests → build (all must pass)</a:t>
            </a:r>
          </a:p>
          <a:p>
            <a:pPr algn="l">
              <a:lnSpc>
                <a:spcPts val="2700"/>
              </a:lnSpc>
            </a:pPr>
            <a:r>
              <a:rPr sz="1450" b="0">
                <a:solidFill>
                  <a:srgbClr val="FFFFFF"/>
                </a:solidFill>
              </a:rPr>
              <a:t>● 3. CI also runs: SAST (Semgrep), dependency audit, ZAP baseline, E2E tests</a:t>
            </a:r>
          </a:p>
          <a:p>
            <a:pPr algn="l">
              <a:lnSpc>
                <a:spcPts val="2700"/>
              </a:lnSpc>
            </a:pPr>
            <a:r>
              <a:rPr sz="1450" b="0">
                <a:solidFill>
                  <a:srgbClr val="FFFFFF"/>
                </a:solidFill>
              </a:rPr>
              <a:t>● 4. On CI success: Vercel webhook triggers frontend deploy  (~2 minutes)</a:t>
            </a:r>
          </a:p>
          <a:p>
            <a:pPr algn="l">
              <a:lnSpc>
                <a:spcPts val="2700"/>
              </a:lnSpc>
            </a:pPr>
            <a:r>
              <a:rPr sz="1450" b="0">
                <a:solidFill>
                  <a:srgbClr val="FFFFFF"/>
                </a:solidFill>
              </a:rPr>
              <a:t>● 5. For backend: Railway auto-redeploys on env var change or manual trigger</a:t>
            </a:r>
          </a:p>
          <a:p>
            <a:pPr algn="l">
              <a:lnSpc>
                <a:spcPts val="2700"/>
              </a:lnSpc>
            </a:pPr>
            <a:r>
              <a:rPr sz="1450" b="0">
                <a:solidFill>
                  <a:srgbClr val="FFFFFF"/>
                </a:solidFill>
              </a:rPr>
              <a:t>       Run: prisma migrate deploy  before restarting API for schema changes</a:t>
            </a:r>
          </a:p>
          <a:p>
            <a:pPr algn="l">
              <a:lnSpc>
                <a:spcPts val="2700"/>
              </a:lnSpc>
            </a:pPr>
            <a:r>
              <a:rPr sz="1450" b="0">
                <a:solidFill>
                  <a:srgbClr val="FFFFFF"/>
                </a:solidFill>
              </a:rPr>
              <a:t>● 6. Verify: check sozialzync.vercel.app loads, login works, API responds at /health</a:t>
            </a:r>
          </a:p>
          <a:p>
            <a:pPr algn="l">
              <a:lnSpc>
                <a:spcPts val="2700"/>
              </a:lnSpc>
            </a:pPr>
            <a:r>
              <a:rPr sz="1450" b="0">
                <a:solidFill>
                  <a:srgbClr val="FFFFFF"/>
                </a:solidFill>
              </a:rPr>
              <a:t>● 7. Monitor: Railway logs for backend errors, Vercel logs for frontend issues</a:t>
            </a:r>
          </a:p>
          <a:p>
            <a:pPr algn="l">
              <a:lnSpc>
                <a:spcPts val="2700"/>
              </a:lnSpc>
            </a:pPr>
            <a:r>
              <a:rPr sz="1450" b="0">
                <a:solidFill>
                  <a:srgbClr val="FFFFFF"/>
                </a:solidFill>
              </a:rPr>
              <a:t>● 8. Rollback: Vercel → 'Promote' previous deployment; Railway: revert Railway deploy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59E0B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19456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SECURITY &amp;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59E0B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612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Security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2588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00"/>
              </a:lnSpc>
            </a:pPr>
            <a:r>
              <a:rPr sz="1350" b="0">
                <a:solidFill>
                  <a:srgbClr val="FFFFFF"/>
                </a:solidFill>
              </a:rPr>
              <a:t>● JWT: 15-minute access tokens, 7-day refresh tokens (rotating pattern)</a:t>
            </a:r>
          </a:p>
          <a:p>
            <a:pPr algn="l">
              <a:lnSpc>
                <a:spcPts val="2500"/>
              </a:lnSpc>
            </a:pPr>
            <a:r>
              <a:rPr sz="1350" b="0">
                <a:solidFill>
                  <a:srgbClr val="FFFFFF"/>
                </a:solidFill>
              </a:rPr>
              <a:t>● Refresh tokens: stored in HTTP-only SameSite cookie, not localStorage</a:t>
            </a:r>
          </a:p>
          <a:p>
            <a:pPr algn="l">
              <a:lnSpc>
                <a:spcPts val="2500"/>
              </a:lnSpc>
            </a:pPr>
            <a:r>
              <a:rPr sz="1350" b="0">
                <a:solidFill>
                  <a:srgbClr val="FFFFFF"/>
                </a:solidFill>
              </a:rPr>
              <a:t>● OTP codes: hashed in DB, expire in 10 minutes, single-use only</a:t>
            </a:r>
          </a:p>
          <a:p>
            <a:pPr algn="l">
              <a:lnSpc>
                <a:spcPts val="2500"/>
              </a:lnSpc>
            </a:pPr>
            <a:r>
              <a:rPr sz="1350" b="0">
                <a:solidFill>
                  <a:srgbClr val="FFFFFF"/>
                </a:solidFill>
              </a:rPr>
              <a:t>● Passwords: bcrypt hashed with cost factor — never stored in plaintext</a:t>
            </a:r>
          </a:p>
          <a:p>
            <a:pPr algn="l">
              <a:lnSpc>
                <a:spcPts val="2500"/>
              </a:lnSpc>
            </a:pPr>
            <a:r>
              <a:rPr sz="1350" b="0">
                <a:solidFill>
                  <a:srgbClr val="FFFFFF"/>
                </a:solidFill>
              </a:rPr>
              <a:t>● OAuth tokens: AES-256-GCM encrypted at rest using TOKEN_ENCRYPTION_KEY</a:t>
            </a:r>
          </a:p>
          <a:p>
            <a:pPr algn="l">
              <a:lnSpc>
                <a:spcPts val="2500"/>
              </a:lnSpc>
            </a:pPr>
            <a:r>
              <a:rPr sz="1350" b="0">
                <a:solidFill>
                  <a:srgbClr val="FFFFFF"/>
                </a:solidFill>
              </a:rPr>
              <a:t>● API keys: env vars only — never in code, never in git history</a:t>
            </a:r>
          </a:p>
          <a:p>
            <a:pPr algn="l">
              <a:lnSpc>
                <a:spcPts val="2500"/>
              </a:lnSpc>
            </a:pPr>
            <a:r>
              <a:rPr sz="1350" b="0">
                <a:solidFill>
                  <a:srgbClr val="FFFFFF"/>
                </a:solidFill>
              </a:rPr>
              <a:t>● CORS: restricted to CORS_ORIGIN env var value (sozialzync.vercel.app)</a:t>
            </a:r>
          </a:p>
          <a:p>
            <a:pPr algn="l">
              <a:lnSpc>
                <a:spcPts val="2500"/>
              </a:lnSpc>
            </a:pPr>
            <a:r>
              <a:rPr sz="1350" b="0">
                <a:solidFill>
                  <a:srgbClr val="FFFFFF"/>
                </a:solidFill>
              </a:rPr>
              <a:t>● HTTP headers: CSP, HSTS, X-Frame-Options DENY, nosniff (Helmet 8)</a:t>
            </a:r>
          </a:p>
          <a:p>
            <a:pPr algn="l">
              <a:lnSpc>
                <a:spcPts val="2500"/>
              </a:lnSpc>
            </a:pPr>
            <a:r>
              <a:rPr sz="1350" b="0">
                <a:solidFill>
                  <a:srgbClr val="FFFFFF"/>
                </a:solidFill>
              </a:rPr>
              <a:t>● Rate limiting: Redis-backed on OTP, login, register, refresh endpoints</a:t>
            </a:r>
          </a:p>
          <a:p>
            <a:pPr algn="l">
              <a:lnSpc>
                <a:spcPts val="2500"/>
              </a:lnSpc>
            </a:pPr>
            <a:r>
              <a:rPr sz="1350" b="0">
                <a:solidFill>
                  <a:srgbClr val="FFFFFF"/>
                </a:solidFill>
              </a:rPr>
              <a:t>● SAST: Semgrep custom rules run in CI on every push — ERROR level blocks merge</a:t>
            </a:r>
          </a:p>
          <a:p>
            <a:pPr algn="l">
              <a:lnSpc>
                <a:spcPts val="2500"/>
              </a:lnSpc>
            </a:pPr>
            <a:r>
              <a:rPr sz="1350" b="0">
                <a:solidFill>
                  <a:srgbClr val="FFFFFF"/>
                </a:solidFill>
              </a:rPr>
              <a:t>● DAST: OWASP ZAP baseline scan on every push — HIGH findings block merge</a:t>
            </a:r>
          </a:p>
          <a:p>
            <a:pPr algn="l">
              <a:lnSpc>
                <a:spcPts val="2500"/>
              </a:lnSpc>
            </a:pPr>
            <a:r>
              <a:rPr sz="1350" b="0">
                <a:solidFill>
                  <a:srgbClr val="FFFFFF"/>
                </a:solidFill>
              </a:rPr>
              <a:t>● Dependency audit: pnpm audit --audit-level=high blocks on HIGH/CRITICAL CVEs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59E0B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612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Compliance Hard 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2588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</a:pPr>
            <a:r>
              <a:rPr sz="1500" b="0">
                <a:solidFill>
                  <a:srgbClr val="FFFFFF"/>
                </a:solidFill>
              </a:rPr>
              <a:t>● ComplianceAgent runs on EVERY content item before it can be published</a:t>
            </a:r>
          </a:p>
          <a:p>
            <a:pPr algn="l">
              <a:lnSpc>
                <a:spcPts val="2800"/>
              </a:lnSpc>
            </a:pPr>
            <a:r>
              <a:rPr sz="1500" b="0">
                <a:solidFill>
                  <a:srgbClr val="FFFFFF"/>
                </a:solidFill>
              </a:rPr>
              <a:t>● No code path exists that skips ComplianceAgent — enforced in CI by Semgrep</a:t>
            </a:r>
          </a:p>
          <a:p>
            <a:pPr algn="l">
              <a:lnSpc>
                <a:spcPts val="2800"/>
              </a:lnSpc>
            </a:pPr>
            <a:r>
              <a:rPr sz="1500" b="0">
                <a:solidFill>
                  <a:srgbClr val="FFFFFF"/>
                </a:solidFill>
              </a:rPr>
              <a:t>● Checks: advertiser-friendliness, copyright risk, YouTube community guidelines</a:t>
            </a:r>
          </a:p>
          <a:p>
            <a:pPr algn="l">
              <a:lnSpc>
                <a:spcPts val="2800"/>
              </a:lnSpc>
            </a:pPr>
            <a:r>
              <a:rPr sz="1500" b="0">
                <a:solidFill>
                  <a:srgbClr val="FFFFFF"/>
                </a:solidFill>
              </a:rPr>
              <a:t>● Assigns Monetization Safety Score (0–100) to each content item</a:t>
            </a:r>
          </a:p>
          <a:p>
            <a:pPr algn="l">
              <a:lnSpc>
                <a:spcPts val="2800"/>
              </a:lnSpc>
            </a:pPr>
            <a:r>
              <a:rPr sz="1500" b="0">
                <a:solidFill>
                  <a:srgbClr val="FFFFFF"/>
                </a:solidFill>
              </a:rPr>
              <a:t>● Score below threshold → content is blocked; user notified with specific reasons</a:t>
            </a:r>
          </a:p>
          <a:p>
            <a:pPr algn="l">
              <a:lnSpc>
                <a:spcPts val="2800"/>
              </a:lnSpc>
            </a:pPr>
            <a:r>
              <a:rPr sz="1500" b="0">
                <a:solidFill>
                  <a:srgbClr val="FFFFFF"/>
                </a:solidFill>
              </a:rPr>
              <a:t>● All compliance decisions are written to the AuditLog table (append-only)</a:t>
            </a:r>
          </a:p>
          <a:p>
            <a:pPr algn="l">
              <a:lnSpc>
                <a:spcPts val="2800"/>
              </a:lnSpc>
            </a:pPr>
            <a:r>
              <a:rPr sz="1500" b="0">
                <a:solidFill>
                  <a:srgbClr val="FFFFFF"/>
                </a:solidFill>
              </a:rPr>
              <a:t>● Publishing endpoint rejects any request without a valid passed ComplianceResult</a:t>
            </a:r>
          </a:p>
          <a:p>
            <a:pPr algn="l">
              <a:lnSpc>
                <a:spcPts val="2800"/>
              </a:lnSpc>
            </a:pPr>
            <a:r>
              <a:rPr sz="1500" b="0">
                <a:solidFill>
                  <a:srgbClr val="FFFFFF"/>
                </a:solidFill>
              </a:rPr>
              <a:t>● ComplianceResult is re-verified by the publishing worker (double-check gate)</a:t>
            </a:r>
          </a:p>
          <a:p>
            <a:pPr algn="l">
              <a:lnSpc>
                <a:spcPts val="2800"/>
              </a:lnSpc>
            </a:pPr>
            <a:r>
              <a:rPr sz="1500" b="0">
                <a:solidFill>
                  <a:srgbClr val="FFFFFF"/>
                </a:solidFill>
              </a:rPr>
              <a:t>● Editing a script after approval resets both compliance and human-approval gates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59E0B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612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Human-in-the-Loop Enforcement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2588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</a:pPr>
            <a:r>
              <a:rPr sz="1500" b="0">
                <a:solidFill>
                  <a:srgbClr val="FFFFFF"/>
                </a:solidFill>
              </a:rPr>
              <a:t>● The API's /publishing/publish endpoint requires explicit human approval</a:t>
            </a:r>
          </a:p>
          <a:p>
            <a:pPr algn="l">
              <a:lnSpc>
                <a:spcPts val="2800"/>
              </a:lnSpc>
            </a:pPr>
            <a:r>
              <a:rPr sz="1500" b="0">
                <a:solidFill>
                  <a:srgbClr val="FFFFFF"/>
                </a:solidFill>
              </a:rPr>
              <a:t>● Approval is a separate API call — publishing cannot happen in a single step</a:t>
            </a:r>
          </a:p>
          <a:p>
            <a:pPr algn="l">
              <a:lnSpc>
                <a:spcPts val="2800"/>
              </a:lnSpc>
            </a:pPr>
            <a:r>
              <a:rPr sz="1500" b="0">
                <a:solidFill>
                  <a:srgbClr val="FFFFFF"/>
                </a:solidFill>
              </a:rPr>
              <a:t>● Scheduled auto-publish: ONLY if user explicitly enabled it AND item passed compliance</a:t>
            </a:r>
          </a:p>
          <a:p>
            <a:pPr algn="l">
              <a:lnSpc>
                <a:spcPts val="2800"/>
              </a:lnSpc>
            </a:pPr>
            <a:r>
              <a:rPr sz="1500" b="0">
                <a:solidFill>
                  <a:srgbClr val="FFFFFF"/>
                </a:solidFill>
              </a:rPr>
              <a:t>● Approval has an expiry — expired approval blocks publish; new approval required</a:t>
            </a:r>
          </a:p>
          <a:p>
            <a:pPr algn="l">
              <a:lnSpc>
                <a:spcPts val="2800"/>
              </a:lnSpc>
            </a:pPr>
            <a:r>
              <a:rPr sz="1500" b="0">
                <a:solidFill>
                  <a:srgbClr val="FFFFFF"/>
                </a:solidFill>
              </a:rPr>
              <a:t>● Super Admin can view the publish queue and cancel any pending publishes</a:t>
            </a:r>
          </a:p>
          <a:p>
            <a:pPr algn="l">
              <a:lnSpc>
                <a:spcPts val="2800"/>
              </a:lnSpc>
            </a:pPr>
            <a:r>
              <a:rPr sz="1500" b="0">
                <a:solidFill>
                  <a:srgbClr val="FFFFFF"/>
                </a:solidFill>
              </a:rPr>
              <a:t>● Every publish event is logged: user, channel, video ID, timestamp, compliance score</a:t>
            </a:r>
          </a:p>
          <a:p>
            <a:pPr algn="l">
              <a:lnSpc>
                <a:spcPts val="2800"/>
              </a:lnSpc>
            </a:pPr>
            <a:r>
              <a:rPr sz="1500" b="0">
                <a:solidFill>
                  <a:srgbClr val="FFFFFF"/>
                </a:solidFill>
              </a:rPr>
              <a:t>● YouTube Data API upload only happens after: compliance pass + human approval</a:t>
            </a:r>
          </a:p>
          <a:p>
            <a:pPr algn="l">
              <a:lnSpc>
                <a:spcPts val="2800"/>
              </a:lnSpc>
            </a:pPr>
            <a:r>
              <a:rPr sz="1500" b="0">
                <a:solidFill>
                  <a:srgbClr val="FFFFFF"/>
                </a:solidFill>
              </a:rPr>
              <a:t>● Approval status in DB: PENDING / APPROVED / REJECTED / EXPIRED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59E0B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19456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USER &amp; BILLING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59E0B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612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Managing Users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2588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700"/>
              </a:lnSpc>
            </a:pPr>
            <a:r>
              <a:rPr sz="1500" b="0">
                <a:solidFill>
                  <a:srgbClr val="FFFFFF"/>
                </a:solidFill>
              </a:rPr>
              <a:t>● View all users in /admin panel — searchable, filterable by role and plan</a:t>
            </a:r>
          </a:p>
          <a:p>
            <a:pPr algn="l">
              <a:lnSpc>
                <a:spcPts val="2700"/>
              </a:lnSpc>
            </a:pPr>
            <a:r>
              <a:rPr sz="1500" b="0">
                <a:solidFill>
                  <a:srgbClr val="FFFFFF"/>
                </a:solidFill>
              </a:rPr>
              <a:t>● Change user role: MEMBER ↔ ORG_ADMIN ↔ OWNER ↔ SUPER_ADMIN</a:t>
            </a:r>
          </a:p>
          <a:p>
            <a:pPr algn="l">
              <a:lnSpc>
                <a:spcPts val="2700"/>
              </a:lnSpc>
            </a:pPr>
            <a:r>
              <a:rPr sz="1500" b="0">
                <a:solidFill>
                  <a:srgbClr val="FFFFFF"/>
                </a:solidFill>
              </a:rPr>
              <a:t>● Reset password / resend OTP verification: directly from admin panel</a:t>
            </a:r>
          </a:p>
          <a:p>
            <a:pPr algn="l">
              <a:lnSpc>
                <a:spcPts val="2700"/>
              </a:lnSpc>
            </a:pPr>
            <a:r>
              <a:rPr sz="1500" b="0">
                <a:solidFill>
                  <a:srgbClr val="FFFFFF"/>
                </a:solidFill>
              </a:rPr>
              <a:t>● Suspend/reactivate accounts: instantly blocks all API requests for that user</a:t>
            </a:r>
          </a:p>
          <a:p>
            <a:pPr algn="l">
              <a:lnSpc>
                <a:spcPts val="2700"/>
              </a:lnSpc>
            </a:pPr>
            <a:r>
              <a:rPr sz="1500" b="0">
                <a:solidFill>
                  <a:srgbClr val="FFFFFF"/>
                </a:solidFill>
              </a:rPr>
              <a:t>● View user's projects, active jobs, and published videos</a:t>
            </a:r>
          </a:p>
          <a:p>
            <a:pPr algn="l">
              <a:lnSpc>
                <a:spcPts val="2700"/>
              </a:lnSpc>
            </a:pPr>
            <a:r>
              <a:rPr sz="1500" b="0">
                <a:solidFill>
                  <a:srgbClr val="FFFFFF"/>
                </a:solidFill>
              </a:rPr>
              <a:t>● Impersonate (view-only mode): see exactly what the user sees without modifying data</a:t>
            </a:r>
          </a:p>
          <a:p>
            <a:pPr algn="l">
              <a:lnSpc>
                <a:spcPts val="2700"/>
              </a:lnSpc>
            </a:pPr>
            <a:r>
              <a:rPr sz="1500" b="0">
                <a:solidFill>
                  <a:srgbClr val="FFFFFF"/>
                </a:solidFill>
              </a:rPr>
              <a:t>● Delete user: GDPR-compliant — scrubs PII, anonymizes associated audit log rows</a:t>
            </a:r>
          </a:p>
          <a:p>
            <a:pPr algn="l">
              <a:lnSpc>
                <a:spcPts val="2700"/>
              </a:lnSpc>
            </a:pPr>
            <a:r>
              <a:rPr sz="1500" b="0">
                <a:solidFill>
                  <a:srgbClr val="FFFFFF"/>
                </a:solidFill>
              </a:rPr>
              <a:t>● Fraud control: set Wallet.rechargesFrozen=true to block wallet top-ups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59E0B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612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Billing &amp; Credit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2588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</a:pPr>
            <a:r>
              <a:rPr sz="1450" b="0">
                <a:solidFill>
                  <a:srgbClr val="FFFFFF"/>
                </a:solidFill>
              </a:rPr>
              <a:t>● Grant credits to any wallet: select user → Wallet → Grant Credits</a:t>
            </a:r>
          </a:p>
          <a:p>
            <a:pPr algn="l">
              <a:lnSpc>
                <a:spcPts val="2600"/>
              </a:lnSpc>
            </a:pPr>
            <a:r>
              <a:rPr sz="1450" b="0">
                <a:solidFill>
                  <a:srgbClr val="FFFFFF"/>
                </a:solidFill>
              </a:rPr>
              <a:t>● Credit types: Trial / Purchased / Bonus / Referral — each tracked separately</a:t>
            </a:r>
          </a:p>
          <a:p>
            <a:pPr algn="l">
              <a:lnSpc>
                <a:spcPts val="2600"/>
              </a:lnSpc>
            </a:pPr>
            <a:r>
              <a:rPr sz="1450" b="0">
                <a:solidFill>
                  <a:srgbClr val="FFFFFF"/>
                </a:solidFill>
              </a:rPr>
              <a:t>● Set expiry date for granted credits (optional — null means never expires)</a:t>
            </a:r>
          </a:p>
          <a:p>
            <a:pPr algn="l">
              <a:lnSpc>
                <a:spcPts val="2600"/>
              </a:lnSpc>
            </a:pPr>
            <a:r>
              <a:rPr sz="1450" b="0">
                <a:solidFill>
                  <a:srgbClr val="FFFFFF"/>
                </a:solidFill>
              </a:rPr>
              <a:t>● Override plan tier: assign Enterprise to any user manually from admin panel</a:t>
            </a:r>
          </a:p>
          <a:p>
            <a:pPr algn="l">
              <a:lnSpc>
                <a:spcPts val="2600"/>
              </a:lnSpc>
            </a:pPr>
            <a:r>
              <a:rPr sz="1450" b="0">
                <a:solidFill>
                  <a:srgbClr val="FFFFFF"/>
                </a:solidFill>
              </a:rPr>
              <a:t>● View all Stripe subscriptions and full payment history per user</a:t>
            </a:r>
          </a:p>
          <a:p>
            <a:pPr algn="l">
              <a:lnSpc>
                <a:spcPts val="2600"/>
              </a:lnSpc>
            </a:pPr>
            <a:r>
              <a:rPr sz="1450" b="0">
                <a:solidFill>
                  <a:srgbClr val="FFFFFF"/>
                </a:solidFill>
              </a:rPr>
              <a:t>● Process refunds: via Stripe Dashboard (not from admin panel directly)</a:t>
            </a:r>
          </a:p>
          <a:p>
            <a:pPr algn="l">
              <a:lnSpc>
                <a:spcPts val="2600"/>
              </a:lnSpc>
            </a:pPr>
            <a:r>
              <a:rPr sz="1450" b="0">
                <a:solidFill>
                  <a:srgbClr val="FFFFFF"/>
                </a:solidFill>
              </a:rPr>
              <a:t>● Credit ledger: every debit/credit transaction logged with entry type and reason</a:t>
            </a:r>
          </a:p>
          <a:p>
            <a:pPr algn="l">
              <a:lnSpc>
                <a:spcPts val="2600"/>
              </a:lnSpc>
            </a:pPr>
            <a:r>
              <a:rPr sz="1450" b="0">
                <a:solidFill>
                  <a:srgbClr val="FFFFFF"/>
                </a:solidFill>
              </a:rPr>
              <a:t>● CreditLedger is append-only — corrections are new ADJUSTMENT rows, never edits</a:t>
            </a:r>
          </a:p>
          <a:p>
            <a:pPr algn="l">
              <a:lnSpc>
                <a:spcPts val="2600"/>
              </a:lnSpc>
            </a:pPr>
            <a:r>
              <a:rPr sz="1450" b="0">
                <a:solidFill>
                  <a:srgbClr val="FFFFFF"/>
                </a:solidFill>
              </a:rPr>
              <a:t>● Hard budget cap: per-user monthly spend cap enforced fail-closed in WalletService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59E0B"/>
                </a:solidFill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612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Organization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2588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</a:pPr>
            <a:r>
              <a:rPr sz="1450" b="0">
                <a:solidFill>
                  <a:srgbClr val="FFFFFF"/>
                </a:solidFill>
              </a:rPr>
              <a:t>● View all organizations (Enterprise plan users) in the admin panel</a:t>
            </a:r>
          </a:p>
          <a:p>
            <a:pPr algn="l">
              <a:lnSpc>
                <a:spcPts val="2600"/>
              </a:lnSpc>
            </a:pPr>
            <a:r>
              <a:rPr sz="1450" b="0">
                <a:solidFill>
                  <a:srgbClr val="FFFFFF"/>
                </a:solidFill>
              </a:rPr>
              <a:t>● See: org name, owner, member count, wallet balance, credit usage</a:t>
            </a:r>
          </a:p>
          <a:p>
            <a:pPr algn="l">
              <a:lnSpc>
                <a:spcPts val="2600"/>
              </a:lnSpc>
            </a:pPr>
            <a:r>
              <a:rPr sz="1450" b="0">
                <a:solidFill>
                  <a:srgbClr val="FFFFFF"/>
                </a:solidFill>
              </a:rPr>
              <a:t>● Adjust org wallet: grant or revoke org-level credits from admin panel</a:t>
            </a:r>
          </a:p>
          <a:p>
            <a:pPr algn="l">
              <a:lnSpc>
                <a:spcPts val="2600"/>
              </a:lnSpc>
            </a:pPr>
            <a:r>
              <a:rPr sz="1450" b="0">
                <a:solidFill>
                  <a:srgbClr val="FFFFFF"/>
                </a:solidFill>
              </a:rPr>
              <a:t>● Add/remove org members directly from admin panel</a:t>
            </a:r>
          </a:p>
          <a:p>
            <a:pPr algn="l">
              <a:lnSpc>
                <a:spcPts val="2600"/>
              </a:lnSpc>
            </a:pPr>
            <a:r>
              <a:rPr sz="1450" b="0">
                <a:solidFill>
                  <a:srgbClr val="FFFFFF"/>
                </a:solidFill>
              </a:rPr>
              <a:t>● Set monthly budget cap for org with hardCap=true (prevents runaway spend)</a:t>
            </a:r>
          </a:p>
          <a:p>
            <a:pPr algn="l">
              <a:lnSpc>
                <a:spcPts val="2600"/>
              </a:lnSpc>
            </a:pPr>
            <a:r>
              <a:rPr sz="1450" b="0">
                <a:solidFill>
                  <a:srgbClr val="FFFFFF"/>
                </a:solidFill>
              </a:rPr>
              <a:t>● View org's channels, projects, and publish history</a:t>
            </a:r>
          </a:p>
          <a:p>
            <a:pPr algn="l">
              <a:lnSpc>
                <a:spcPts val="2600"/>
              </a:lnSpc>
            </a:pPr>
            <a:r>
              <a:rPr sz="1450" b="0">
                <a:solidFill>
                  <a:srgbClr val="FFFFFF"/>
                </a:solidFill>
              </a:rPr>
              <a:t>● Organization statuses: ACTIVE / SUSPENDED — toggle from admin panel</a:t>
            </a:r>
          </a:p>
          <a:p>
            <a:pPr algn="l">
              <a:lnSpc>
                <a:spcPts val="2600"/>
              </a:lnSpc>
            </a:pPr>
            <a:r>
              <a:rPr sz="1450" b="0">
                <a:solidFill>
                  <a:srgbClr val="FFFFFF"/>
                </a:solidFill>
              </a:rPr>
              <a:t>● Dissolve org: reassigns members to personal accounts</a:t>
            </a:r>
          </a:p>
          <a:p>
            <a:pPr algn="l">
              <a:lnSpc>
                <a:spcPts val="2600"/>
              </a:lnSpc>
            </a:pPr>
            <a:r>
              <a:rPr sz="1450" b="0">
                <a:solidFill>
                  <a:srgbClr val="FFFFFF"/>
                </a:solidFill>
              </a:rPr>
              <a:t>● BudgetPeriod table: per-org, per-period credit allocation and hard-cap enforcement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59E0B"/>
                </a:solidFill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19456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MONITORING &amp;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59E0B"/>
                </a:solidFill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612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Queue &amp; Job Monitoring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2588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</a:pPr>
            <a:r>
              <a:rPr sz="1450" b="0">
                <a:solidFill>
                  <a:srgbClr val="FFFFFF"/>
                </a:solidFill>
              </a:rPr>
              <a:t>● BullMQ Board: visual dashboard for all job queues (accessible from admin panel)</a:t>
            </a:r>
          </a:p>
          <a:p>
            <a:pPr algn="l">
              <a:lnSpc>
                <a:spcPts val="2600"/>
              </a:lnSpc>
            </a:pPr>
            <a:r>
              <a:rPr sz="1450" b="0">
                <a:solidFill>
                  <a:srgbClr val="FFFFFF"/>
                </a:solidFill>
              </a:rPr>
              <a:t>● Queues: agent-jobs, publish-jobs, import-jobs, analytics-jobs, automation-tick</a:t>
            </a:r>
          </a:p>
          <a:p>
            <a:pPr algn="l">
              <a:lnSpc>
                <a:spcPts val="2600"/>
              </a:lnSpc>
            </a:pPr>
            <a:r>
              <a:rPr sz="1450" b="0">
                <a:solidFill>
                  <a:srgbClr val="FFFFFF"/>
                </a:solidFill>
              </a:rPr>
              <a:t>● View per-queue counts: waiting / active / completed / failed / delayed</a:t>
            </a:r>
          </a:p>
          <a:p>
            <a:pPr algn="l">
              <a:lnSpc>
                <a:spcPts val="2600"/>
              </a:lnSpc>
            </a:pPr>
            <a:r>
              <a:rPr sz="1450" b="0">
                <a:solidFill>
                  <a:srgbClr val="FFFFFF"/>
                </a:solidFill>
              </a:rPr>
              <a:t>● Retry failed jobs manually from the dashboard — no code deploy needed</a:t>
            </a:r>
          </a:p>
          <a:p>
            <a:pPr algn="l">
              <a:lnSpc>
                <a:spcPts val="2600"/>
              </a:lnSpc>
            </a:pPr>
            <a:r>
              <a:rPr sz="1450" b="0">
                <a:solidFill>
                  <a:srgbClr val="FFFFFF"/>
                </a:solidFill>
              </a:rPr>
              <a:t>● Pause/resume queues during maintenance windows</a:t>
            </a:r>
          </a:p>
          <a:p>
            <a:pPr algn="l">
              <a:lnSpc>
                <a:spcPts val="2600"/>
              </a:lnSpc>
            </a:pPr>
            <a:r>
              <a:rPr sz="1450" b="0">
                <a:solidFill>
                  <a:srgbClr val="FFFFFF"/>
                </a:solidFill>
              </a:rPr>
              <a:t>● Stalled jobs (worker died mid-run): automatically detected and re-queued</a:t>
            </a:r>
          </a:p>
          <a:p>
            <a:pPr algn="l">
              <a:lnSpc>
                <a:spcPts val="2600"/>
              </a:lnSpc>
            </a:pPr>
            <a:r>
              <a:rPr sz="1450" b="0">
                <a:solidFill>
                  <a:srgbClr val="FFFFFF"/>
                </a:solidFill>
              </a:rPr>
              <a:t>● DLQ (Dead Letter Queue): jobs that failed MAX_RETRIES times — investigate root cause</a:t>
            </a:r>
          </a:p>
          <a:p>
            <a:pPr algn="l">
              <a:lnSpc>
                <a:spcPts val="2600"/>
              </a:lnSpc>
            </a:pPr>
            <a:r>
              <a:rPr sz="1450" b="0">
                <a:solidFill>
                  <a:srgbClr val="FFFFFF"/>
                </a:solidFill>
              </a:rPr>
              <a:t>● Job statuses: PENDING / QUEUED / RUNNING / WAITING_APPROVAL / APPROVED / FAILED</a:t>
            </a:r>
          </a:p>
          <a:p>
            <a:pPr algn="l">
              <a:lnSpc>
                <a:spcPts val="2600"/>
              </a:lnSpc>
            </a:pPr>
            <a:r>
              <a:rPr sz="1450" b="0">
                <a:solidFill>
                  <a:srgbClr val="FFFFFF"/>
                </a:solidFill>
              </a:rPr>
              <a:t>● AgentJob table: full payload, result, error details, and attempt count per job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59E0B"/>
                </a:solidFill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612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Log Monitoring &amp; Alerts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2588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</a:pPr>
            <a:r>
              <a:rPr sz="1450" b="0">
                <a:solidFill>
                  <a:srgbClr val="FFFFFF"/>
                </a:solidFill>
              </a:rPr>
              <a:t>● Railway Logs: real-time NestJS stdout — structured JSON logs, searchable</a:t>
            </a:r>
          </a:p>
          <a:p>
            <a:pPr algn="l">
              <a:lnSpc>
                <a:spcPts val="2600"/>
              </a:lnSpc>
            </a:pPr>
            <a:r>
              <a:rPr sz="1450" b="0">
                <a:solidFill>
                  <a:srgbClr val="FFFFFF"/>
                </a:solidFill>
              </a:rPr>
              <a:t>● Search logs for: ERROR, WARN, specific userId, jobId, or agentName</a:t>
            </a:r>
          </a:p>
          <a:p>
            <a:pPr algn="l">
              <a:lnSpc>
                <a:spcPts val="2600"/>
              </a:lnSpc>
            </a:pPr>
            <a:r>
              <a:rPr sz="1450" b="0">
                <a:solidFill>
                  <a:srgbClr val="FFFFFF"/>
                </a:solidFill>
              </a:rPr>
              <a:t>● Sentry: automatic error capture for both frontend (@sentry/nextjs) and backend</a:t>
            </a:r>
          </a:p>
          <a:p>
            <a:pPr algn="l">
              <a:lnSpc>
                <a:spcPts val="2600"/>
              </a:lnSpc>
            </a:pPr>
            <a:r>
              <a:rPr sz="1450" b="0">
                <a:solidFill>
                  <a:srgbClr val="FFFFFF"/>
                </a:solidFill>
              </a:rPr>
              <a:t>● Prometheus metrics: GET /metrics endpoint, scraped by infra/monitoring stack</a:t>
            </a:r>
          </a:p>
          <a:p>
            <a:pPr algn="l">
              <a:lnSpc>
                <a:spcPts val="2600"/>
              </a:lnSpc>
            </a:pPr>
            <a:r>
              <a:rPr sz="1450" b="0">
                <a:solidFill>
                  <a:srgbClr val="FFFFFF"/>
                </a:solidFill>
              </a:rPr>
              <a:t>● Grafana dashboards: http_request_duration_ms histogram, queue depth, error rate</a:t>
            </a:r>
          </a:p>
          <a:p>
            <a:pPr algn="l">
              <a:lnSpc>
                <a:spcPts val="2600"/>
              </a:lnSpc>
            </a:pPr>
            <a:r>
              <a:rPr sz="1450" b="0">
                <a:solidFill>
                  <a:srgbClr val="FFFFFF"/>
                </a:solidFill>
              </a:rPr>
              <a:t>● Key alerts to configure: 500 error rate spike, queue depth &gt; 100, DB failures</a:t>
            </a:r>
          </a:p>
          <a:p>
            <a:pPr algn="l">
              <a:lnSpc>
                <a:spcPts val="2600"/>
              </a:lnSpc>
            </a:pPr>
            <a:r>
              <a:rPr sz="1450" b="0">
                <a:solidFill>
                  <a:srgbClr val="FFFFFF"/>
                </a:solidFill>
              </a:rPr>
              <a:t>● AgentLog table: every AI call logged — model, tokens in/out, cost, latency (ms)</a:t>
            </a:r>
          </a:p>
          <a:p>
            <a:pPr algn="l">
              <a:lnSpc>
                <a:spcPts val="2600"/>
              </a:lnSpc>
            </a:pPr>
            <a:r>
              <a:rPr sz="1450" b="0">
                <a:solidFill>
                  <a:srgbClr val="FFFFFF"/>
                </a:solidFill>
              </a:rPr>
              <a:t>● Use AgentLog to track monthly AI spend and identify expensive agent operations</a:t>
            </a:r>
          </a:p>
          <a:p>
            <a:pPr algn="l">
              <a:lnSpc>
                <a:spcPts val="2600"/>
              </a:lnSpc>
            </a:pPr>
            <a:r>
              <a:rPr sz="1450" b="0">
                <a:solidFill>
                  <a:srgbClr val="FFFFFF"/>
                </a:solidFill>
              </a:rPr>
              <a:t>● Bundle budget gate: 800KB per-route / 1500KB total JS — CI blocks on violation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59E0B"/>
                </a:solidFill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612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Database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2588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</a:pPr>
            <a:r>
              <a:rPr sz="1450" b="0">
                <a:solidFill>
                  <a:srgbClr val="FFFFFF"/>
                </a:solidFill>
              </a:rPr>
              <a:t>● Access: Railway → PostgreSQL plugin → Connect → psql  (or Railway CLI)</a:t>
            </a:r>
          </a:p>
          <a:p>
            <a:pPr algn="l">
              <a:lnSpc>
                <a:spcPts val="2600"/>
              </a:lnSpc>
            </a:pPr>
            <a:r>
              <a:rPr sz="1450" b="0">
                <a:solidFill>
                  <a:srgbClr val="FFFFFF"/>
                </a:solidFill>
              </a:rPr>
              <a:t>● Migrations: run  npx prisma migrate deploy  in API service shell before restart</a:t>
            </a:r>
          </a:p>
          <a:p>
            <a:pPr algn="l">
              <a:lnSpc>
                <a:spcPts val="2600"/>
              </a:lnSpc>
            </a:pPr>
            <a:r>
              <a:rPr sz="1450" b="0">
                <a:solidFill>
                  <a:srgbClr val="FFFFFF"/>
                </a:solidFill>
              </a:rPr>
              <a:t>● NEVER alter the database directly — always go through Prisma migration files</a:t>
            </a:r>
          </a:p>
          <a:p>
            <a:pPr algn="l">
              <a:lnSpc>
                <a:spcPts val="2600"/>
              </a:lnSpc>
            </a:pPr>
            <a:r>
              <a:rPr sz="1450" b="0">
                <a:solidFill>
                  <a:srgbClr val="FFFFFF"/>
                </a:solidFill>
              </a:rPr>
              <a:t>● Backups: Railway creates daily automated backups (Pro plan — highly recommended)</a:t>
            </a:r>
          </a:p>
          <a:p>
            <a:pPr algn="l">
              <a:lnSpc>
                <a:spcPts val="2600"/>
              </a:lnSpc>
            </a:pPr>
            <a:r>
              <a:rPr sz="1450" b="0">
                <a:solidFill>
                  <a:srgbClr val="FFFFFF"/>
                </a:solidFill>
              </a:rPr>
              <a:t>● Manual backup: pg_dump via Railway CLI before any risky migration</a:t>
            </a:r>
          </a:p>
          <a:p>
            <a:pPr algn="l">
              <a:lnSpc>
                <a:spcPts val="2600"/>
              </a:lnSpc>
            </a:pPr>
            <a:r>
              <a:rPr sz="1450" b="0">
                <a:solidFill>
                  <a:srgbClr val="FFFFFF"/>
                </a:solidFill>
              </a:rPr>
              <a:t>● Schema changes: update prisma/schema.prisma → generate migration → deploy</a:t>
            </a:r>
          </a:p>
          <a:p>
            <a:pPr algn="l">
              <a:lnSpc>
                <a:spcPts val="2600"/>
              </a:lnSpc>
            </a:pPr>
            <a:r>
              <a:rPr sz="1450" b="0">
                <a:solidFill>
                  <a:srgbClr val="FFFFFF"/>
                </a:solidFill>
              </a:rPr>
              <a:t>● Monitoring: Railway Postgres metrics tab → check for slow queries over 1 second</a:t>
            </a:r>
          </a:p>
          <a:p>
            <a:pPr algn="l">
              <a:lnSpc>
                <a:spcPts val="2600"/>
              </a:lnSpc>
            </a:pPr>
            <a:r>
              <a:rPr sz="1450" b="0">
                <a:solidFill>
                  <a:srgbClr val="FFFFFF"/>
                </a:solidFill>
              </a:rPr>
              <a:t>● Append-only tables: CreditLedger and AuditLog — rows are NEVER updated or deleted</a:t>
            </a:r>
          </a:p>
          <a:p>
            <a:pPr algn="l">
              <a:lnSpc>
                <a:spcPts val="2600"/>
              </a:lnSpc>
            </a:pPr>
            <a:r>
              <a:rPr sz="1450" b="0">
                <a:solidFill>
                  <a:srgbClr val="FFFFFF"/>
                </a:solidFill>
              </a:rPr>
              <a:t>● Wallet balance: read-cache only; CreditLedger is the single source of truth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59E0B"/>
                </a:solidFill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612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Incident Response 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2588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</a:pPr>
            <a:r>
              <a:rPr sz="1450" b="0">
                <a:solidFill>
                  <a:srgbClr val="FFFFFF"/>
                </a:solidFill>
              </a:rPr>
              <a:t>● Site down → check Vercel status page + Railway service health dashboard</a:t>
            </a:r>
          </a:p>
          <a:p>
            <a:pPr algn="l">
              <a:lnSpc>
                <a:spcPts val="2600"/>
              </a:lnSpc>
            </a:pPr>
            <a:r>
              <a:rPr sz="1450" b="0">
                <a:solidFill>
                  <a:srgbClr val="FFFFFF"/>
                </a:solidFill>
              </a:rPr>
              <a:t>● API errors → Railway Logs → search 'ERROR' → check DB connection string</a:t>
            </a:r>
          </a:p>
          <a:p>
            <a:pPr algn="l">
              <a:lnSpc>
                <a:spcPts val="2600"/>
              </a:lnSpc>
            </a:pPr>
            <a:r>
              <a:rPr sz="1450" b="0">
                <a:solidFill>
                  <a:srgbClr val="FFFFFF"/>
                </a:solidFill>
              </a:rPr>
              <a:t>● OTP not sending → verify RESEND_API_KEY (or SMTP_*) in Railway Variables</a:t>
            </a:r>
          </a:p>
          <a:p>
            <a:pPr algn="l">
              <a:lnSpc>
                <a:spcPts val="2600"/>
              </a:lnSpc>
            </a:pPr>
            <a:r>
              <a:rPr sz="1450" b="0">
                <a:solidFill>
                  <a:srgbClr val="FFFFFF"/>
                </a:solidFill>
              </a:rPr>
              <a:t>● Jobs stuck → BullMQ Board → check Redis connection → restart worker service</a:t>
            </a:r>
          </a:p>
          <a:p>
            <a:pPr algn="l">
              <a:lnSpc>
                <a:spcPts val="2600"/>
              </a:lnSpc>
            </a:pPr>
            <a:r>
              <a:rPr sz="1450" b="0">
                <a:solidFill>
                  <a:srgbClr val="FFFFFF"/>
                </a:solidFill>
              </a:rPr>
              <a:t>● DB connection error → Railway PostgreSQL → check max_connections limit</a:t>
            </a:r>
          </a:p>
          <a:p>
            <a:pPr algn="l">
              <a:lnSpc>
                <a:spcPts val="2600"/>
              </a:lnSpc>
            </a:pPr>
            <a:r>
              <a:rPr sz="1450" b="0">
                <a:solidFill>
                  <a:srgbClr val="FFFFFF"/>
                </a:solidFill>
              </a:rPr>
              <a:t>● High AI costs → AgentLog table → filter by tokensOut → identify expensive calls</a:t>
            </a:r>
          </a:p>
          <a:p>
            <a:pPr algn="l">
              <a:lnSpc>
                <a:spcPts val="2600"/>
              </a:lnSpc>
            </a:pPr>
            <a:r>
              <a:rPr sz="1450" b="0">
                <a:solidFill>
                  <a:srgbClr val="FFFFFF"/>
                </a:solidFill>
              </a:rPr>
              <a:t>● User locked out → /admin panel → reset OTP / grant temporary access</a:t>
            </a:r>
          </a:p>
          <a:p>
            <a:pPr algn="l">
              <a:lnSpc>
                <a:spcPts val="2600"/>
              </a:lnSpc>
            </a:pPr>
            <a:r>
              <a:rPr sz="1450" b="0">
                <a:solidFill>
                  <a:srgbClr val="FFFFFF"/>
                </a:solidFill>
              </a:rPr>
              <a:t>● Chargeback/fraud → set Wallet.rechargesFrozen = true until review complete</a:t>
            </a:r>
          </a:p>
          <a:p>
            <a:pPr algn="l">
              <a:lnSpc>
                <a:spcPts val="2600"/>
              </a:lnSpc>
            </a:pPr>
            <a:r>
              <a:rPr sz="1450" b="0">
                <a:solidFill>
                  <a:srgbClr val="FFFFFF"/>
                </a:solidFill>
              </a:rPr>
              <a:t>● Compliance bypass attempt → audit Semgrep CI results + AuditLog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59E0B"/>
                </a:solidFill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You run the platform.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59E0B"/>
                </a:solidFill>
              </a:rPr>
              <a:t>admin panel: sozialzync.vercel.app/admin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9319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Railway dashboard: railway.app  |  Vercel: vercel.com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</a:rPr>
              <a:t>github.com/MoshayM/AI-Sozialzync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59E0B"/>
                </a:solidFill>
              </a:rPr>
              <a:t>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